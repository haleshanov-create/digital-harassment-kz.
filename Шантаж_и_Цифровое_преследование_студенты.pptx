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Всем привет! Мы — Петр Петров и Саша Смирнов, группа ВТи252. Представляем наш учебный проект Digital Harassment KZ. </a:t>
            </a:r>
          </a:p>
          <a:p>
            <a:r>
              <a:t>Мы собирали новостные публикации о цифровом преследовании и связанных угрозах, приводили их к единому виду и смотрели через категории и графики. </a:t>
            </a:r>
          </a:p>
          <a:p>
            <a:r>
              <a:t>Важно было не просто собрать ссылки, а показать весь путь от поиска публикаций до анализа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Почему эту тему важно изучать? Цифровые угрозы сложно рассматривать по отдельным сообщениям. </a:t>
            </a:r>
          </a:p>
          <a:p>
            <a:r>
              <a:t>Публикации выходят на разных площадках, формулировки разные. Когда материалов много, нужна таблица и категории. </a:t>
            </a:r>
          </a:p>
          <a:p>
            <a:r>
              <a:t>Но важно помнить: мы анализируем именно публикации СМИ, а не реальную статистику инцидентов.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 проекта — организовать новостные материалы о цифровых угрозах в структурированный датасет. </a:t>
            </a:r>
          </a:p>
          <a:p>
            <a:r>
              <a:t>Мы не делали детектор преступлений, а инструмент для обзора. Этапы: собрать через RSS, очистить, разметить по ключевым словам и показать в графиках.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Сбор данных организован через RSS-поиск Google News. Запросы на русском и казахском языках. </a:t>
            </a:r>
          </a:p>
          <a:p>
            <a:r>
              <a:t>Записывали заголовок, дату, описание и ссылку. Важно: мы не собирали личные данные, только открытые новости.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Весь процесс: поиск → сбор → очистка → категории → аналитика → публикация. </a:t>
            </a:r>
          </a:p>
          <a:p>
            <a:r>
              <a:t>Сначала приводим данные к единому формату, иначе дубликаты исказят сводки. Потом классификация и дашборд.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выделили пять категорий: шантаж и вымогательство, цифровое преследование, кибербуллинг, интимные материалы без согласия и цифровое мошенничество. </a:t>
            </a:r>
          </a:p>
          <a:p>
            <a:r>
              <a:t>Классификация по ключевым словам — предварительная. Одна новость может относиться к нескольким темам.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Датасет содержит заголовок, дату, краткое описание, источник, ссылку и категорию. </a:t>
            </a:r>
          </a:p>
          <a:p>
            <a:r>
              <a:t>Таблицу можно фильтровать, строить графики и вручную проверять спорные случаи. Дата публикации — не всегда дата самого события.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Дашборд сделан на Gradio. Можно искать по словам, фильтровать по категории и источнику, смотреть графики. </a:t>
            </a:r>
          </a:p>
          <a:p>
            <a:r>
              <a:t>Ссылка временная — работает, пока активна сессия. Для постоянного доступа нужен хостинг.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понимать границы: ключевые слова могут ошибаться, поиск не охватывает всё, новости не равны реальной статистике. </a:t>
            </a:r>
          </a:p>
          <a:p>
            <a:r>
              <a:t>Главный принцип — анализировать публикации, а не обвинять людей. Не загружали личные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Итог: проект объединяет сбор, очистку, классификацию и визуальный просмотр. </a:t>
            </a:r>
          </a:p>
          <a:p>
            <a:r>
              <a:t>Дальше хотим вручную проверить разметку, усилить словари на русском и казахском и разместить дашборд постоянно. </a:t>
            </a:r>
          </a:p>
          <a:p>
            <a:r>
              <a:t>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c5a8e08e688fa93b8.gradio.live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c5a8e08e688fa93b8.gradio.liv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6"/>
          </a:solidFill>
          <a:ln w="1270">
            <a:solidFill>
              <a:srgbClr val="050A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 dirty="0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704088" cy="0"/>
          </a:xfrm>
          <a:prstGeom prst="line">
            <a:avLst/>
          </a:prstGeom>
          <a:noFill/>
          <a:ln w="16510">
            <a:solidFill>
              <a:srgbClr val="22D3EE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064240" y="6455664"/>
            <a:ext cx="685800" cy="0"/>
          </a:xfrm>
          <a:prstGeom prst="line">
            <a:avLst/>
          </a:prstGeom>
          <a:noFill/>
          <a:ln w="1651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mnt/data/wide_cyberpunk_digital_themed_banner_image_with_a.png"/>
          <p:cNvPicPr>
            <a:picLocks noChangeAspect="1"/>
          </p:cNvPicPr>
          <p:nvPr/>
        </p:nvPicPr>
        <p:blipFill>
          <a:blip r:embed="rId3"/>
          <a:srcRect t="26" b="26"/>
          <a:stretch/>
        </p:blipFill>
        <p:spPr>
          <a:xfrm>
            <a:off x="475488" y="384048"/>
            <a:ext cx="11237976" cy="3785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" y="384048"/>
            <a:ext cx="10968272" cy="3730086"/>
          </a:xfrm>
          <a:prstGeom prst="roundRect">
            <a:avLst>
              <a:gd name="adj" fmla="val 2899"/>
            </a:avLst>
          </a:prstGeom>
          <a:solidFill>
            <a:srgbClr val="050A16">
              <a:alpha val="0"/>
            </a:srgbClr>
          </a:solidFill>
          <a:ln w="10795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21792" y="4370832"/>
            <a:ext cx="10945368" cy="0"/>
          </a:xfrm>
          <a:prstGeom prst="line">
            <a:avLst/>
          </a:prstGeom>
          <a:noFill/>
          <a:ln w="12700">
            <a:solidFill>
              <a:srgbClr val="263B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85800" y="45902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2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ПРЕЗЕНТАЦИЯ ПО ТЕМЕ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490118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0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Шантаж и Цифровое преследование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13232" y="5440680"/>
            <a:ext cx="79552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Учебный проект: сбор и обработка публичных новостей, классификация и визуальная аналитика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13232" y="6199632"/>
            <a:ext cx="950976" cy="292608"/>
          </a:xfrm>
          <a:prstGeom prst="roundRect">
            <a:avLst>
              <a:gd name="adj" fmla="val 37500"/>
            </a:avLst>
          </a:prstGeom>
          <a:solidFill>
            <a:srgbClr val="101C32"/>
          </a:solidFill>
          <a:ln w="889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86384" y="620877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773936" y="6199632"/>
            <a:ext cx="658368" cy="292608"/>
          </a:xfrm>
          <a:prstGeom prst="roundRect">
            <a:avLst>
              <a:gd name="adj" fmla="val 37500"/>
            </a:avLst>
          </a:prstGeom>
          <a:solidFill>
            <a:srgbClr val="101C32"/>
          </a:solidFill>
          <a:ln w="889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847088" y="620877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42032" y="6199632"/>
            <a:ext cx="877824" cy="292608"/>
          </a:xfrm>
          <a:prstGeom prst="roundRect">
            <a:avLst>
              <a:gd name="adj" fmla="val 37500"/>
            </a:avLst>
          </a:prstGeom>
          <a:solidFill>
            <a:srgbClr val="101C32"/>
          </a:solidFill>
          <a:ln w="889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2615184" y="62087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PLOTLY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529584" y="6199632"/>
            <a:ext cx="914400" cy="292608"/>
          </a:xfrm>
          <a:prstGeom prst="roundRect">
            <a:avLst>
              <a:gd name="adj" fmla="val 37500"/>
            </a:avLst>
          </a:prstGeom>
          <a:solidFill>
            <a:srgbClr val="101C32"/>
          </a:solidFill>
          <a:ln w="889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3602736" y="620877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86726" y="6126480"/>
            <a:ext cx="42146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ru-RU" sz="900" b="1" kern="0" spc="12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  <a:r>
              <a:rPr lang="en-US" sz="900" b="1" kern="0" spc="12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КАЗАХСТАН · ЦИФРОВАЯ БЕЗОПАСНОСТЬ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251157" y="5727152"/>
            <a:ext cx="80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B4BEDC"/>
                </a:solidFill>
              </a:rPr>
              <a:t>Выполнили</a:t>
            </a:r>
            <a:r>
              <a:rPr sz="1500" b="1" dirty="0">
                <a:solidFill>
                  <a:srgbClr val="B4BEDC"/>
                </a:solidFill>
              </a:rPr>
              <a:t>: </a:t>
            </a:r>
            <a:r>
              <a:rPr lang="ru-RU" sz="1500" b="1" dirty="0" err="1">
                <a:solidFill>
                  <a:srgbClr val="B4BEDC"/>
                </a:solidFill>
              </a:rPr>
              <a:t>Алесханов</a:t>
            </a:r>
            <a:r>
              <a:rPr lang="ru-RU" sz="1500" b="1" dirty="0">
                <a:solidFill>
                  <a:srgbClr val="B4BEDC"/>
                </a:solidFill>
              </a:rPr>
              <a:t> Хаджимурат, </a:t>
            </a:r>
            <a:r>
              <a:rPr lang="ru-RU" sz="1500" b="1" dirty="0" err="1">
                <a:solidFill>
                  <a:srgbClr val="B4BEDC"/>
                </a:solidFill>
              </a:rPr>
              <a:t>Адиртхан</a:t>
            </a:r>
            <a:r>
              <a:rPr lang="ru-RU" sz="1500" b="1" dirty="0">
                <a:solidFill>
                  <a:srgbClr val="B4BEDC"/>
                </a:solidFill>
              </a:rPr>
              <a:t> Бахтияр</a:t>
            </a:r>
            <a:r>
              <a:rPr sz="1500" b="1" dirty="0">
                <a:solidFill>
                  <a:srgbClr val="B4BEDC"/>
                </a:solidFill>
              </a:rPr>
              <a:t>·  В</a:t>
            </a:r>
            <a:r>
              <a:rPr lang="ru-RU" sz="1500" b="1" dirty="0" err="1">
                <a:solidFill>
                  <a:srgbClr val="B4BEDC"/>
                </a:solidFill>
              </a:rPr>
              <a:t>тИПОР</a:t>
            </a:r>
            <a:r>
              <a:rPr sz="1500" b="1" dirty="0">
                <a:solidFill>
                  <a:srgbClr val="B4BEDC"/>
                </a:solidFill>
              </a:rPr>
              <a:t>252</a:t>
            </a:r>
            <a:r>
              <a:rPr lang="ru-RU" sz="1500" b="1" dirty="0" err="1">
                <a:solidFill>
                  <a:srgbClr val="B4BEDC"/>
                </a:solidFill>
              </a:rPr>
              <a:t>уп</a:t>
            </a:r>
            <a:endParaRPr sz="1500" b="1" dirty="0">
              <a:solidFill>
                <a:srgbClr val="B4BED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6"/>
          </a:solidFill>
          <a:ln w="1270">
            <a:solidFill>
              <a:srgbClr val="050A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704088" cy="0"/>
          </a:xfrm>
          <a:prstGeom prst="line">
            <a:avLst/>
          </a:prstGeom>
          <a:noFill/>
          <a:ln w="16510">
            <a:solidFill>
              <a:srgbClr val="22D3EE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1064240" y="6455664"/>
            <a:ext cx="685800" cy="0"/>
          </a:xfrm>
          <a:prstGeom prst="line">
            <a:avLst/>
          </a:prstGeom>
          <a:noFill/>
          <a:ln w="1651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7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1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КОНТЕКСТ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0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эту тему важно изучать?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978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Цифровые угрозы сложно рассматривать по отдельным сообщениям и разрозненным новостям.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1627632"/>
            <a:ext cx="10945368" cy="0"/>
          </a:xfrm>
          <a:prstGeom prst="line">
            <a:avLst/>
          </a:prstGeom>
          <a:noFill/>
          <a:ln w="12700">
            <a:solidFill>
              <a:srgbClr val="263B5A"/>
            </a:solidFill>
            <a:prstDash val="solid"/>
            <a:headEnd type="none"/>
            <a:tailEnd type="none"/>
          </a:ln>
        </p:spPr>
      </p:sp>
      <p:pic>
        <p:nvPicPr>
          <p:cNvPr id="10" name="Image 0" descr="/mnt/data/astana_cybersecurity.jpg"/>
          <p:cNvPicPr>
            <a:picLocks noChangeAspect="1"/>
          </p:cNvPicPr>
          <p:nvPr/>
        </p:nvPicPr>
        <p:blipFill>
          <a:blip r:embed="rId3"/>
          <a:srcRect l="15223" r="15223"/>
          <a:stretch/>
        </p:blipFill>
        <p:spPr>
          <a:xfrm>
            <a:off x="621792" y="1901952"/>
            <a:ext cx="4983480" cy="41330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" y="1901952"/>
            <a:ext cx="4983480" cy="4133088"/>
          </a:xfrm>
          <a:prstGeom prst="roundRect">
            <a:avLst>
              <a:gd name="adj" fmla="val 2655"/>
            </a:avLst>
          </a:prstGeom>
          <a:solidFill>
            <a:srgbClr val="050A16">
              <a:alpha val="0"/>
            </a:srgbClr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919472"/>
            <a:ext cx="4590288" cy="8503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Цифровая безопасность — не только вопрос технологий, но и вопрос того, как люди общаются, доверяют и защищают личную информацию.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61888" y="1920240"/>
            <a:ext cx="5596128" cy="1051560"/>
          </a:xfrm>
          <a:prstGeom prst="roundRect">
            <a:avLst>
              <a:gd name="adj" fmla="val 10435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61888" y="1920240"/>
            <a:ext cx="50292" cy="1051560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2121408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2066544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Сигналы разбросаны по источникам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6355080" y="2359152"/>
            <a:ext cx="5047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Публикации выходят на разных новостных площадках, используют разные формулировки и могут описывать похожие ситуации разными словами.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61888" y="3182112"/>
            <a:ext cx="5596128" cy="1051560"/>
          </a:xfrm>
          <a:prstGeom prst="roundRect">
            <a:avLst>
              <a:gd name="adj" fmla="val 10435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61888" y="3182112"/>
            <a:ext cx="50292" cy="1051560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338328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3328416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Ручной просмотр трудно повторять</a:t>
            </a:r>
            <a:endParaRPr lang="en-US" sz="1420" dirty="0"/>
          </a:p>
        </p:txBody>
      </p:sp>
      <p:sp>
        <p:nvSpPr>
          <p:cNvPr id="22" name="Text 19"/>
          <p:cNvSpPr/>
          <p:nvPr/>
        </p:nvSpPr>
        <p:spPr>
          <a:xfrm>
            <a:off x="6355080" y="3621024"/>
            <a:ext cx="5047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Когда материалов становится много, список, таблица и единые категории помогают не терять ссылки и последовательно сравнивать публикации.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61888" y="4443984"/>
            <a:ext cx="5596128" cy="1051560"/>
          </a:xfrm>
          <a:prstGeom prst="roundRect">
            <a:avLst>
              <a:gd name="adj" fmla="val 10435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61888" y="4443984"/>
            <a:ext cx="50292" cy="1051560"/>
          </a:xfrm>
          <a:prstGeom prst="rect">
            <a:avLst/>
          </a:prstGeom>
          <a:solidFill>
            <a:srgbClr val="EC4DD7"/>
          </a:solidFill>
          <a:ln w="1270">
            <a:solidFill>
              <a:srgbClr val="EC4DD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4645152"/>
            <a:ext cx="109728" cy="109728"/>
          </a:xfrm>
          <a:prstGeom prst="ellipse">
            <a:avLst/>
          </a:prstGeom>
          <a:solidFill>
            <a:srgbClr val="EC4DD7"/>
          </a:solidFill>
          <a:ln w="12700">
            <a:solidFill>
              <a:srgbClr val="EC4DD7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55080" y="459028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Важна осторожная интерпретация</a:t>
            </a:r>
            <a:endParaRPr lang="en-US" sz="1420" dirty="0"/>
          </a:p>
        </p:txBody>
      </p:sp>
      <p:sp>
        <p:nvSpPr>
          <p:cNvPr id="27" name="Text 24"/>
          <p:cNvSpPr/>
          <p:nvPr/>
        </p:nvSpPr>
        <p:spPr>
          <a:xfrm>
            <a:off x="6355080" y="4882896"/>
            <a:ext cx="5047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Новостная выборка показывает, как тему освещают СМИ. Она не равна реальному количеству случаев в стране и не заменяет проверку фактов.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61888" y="5715000"/>
            <a:ext cx="5596128" cy="347472"/>
          </a:xfrm>
          <a:prstGeom prst="roundRect">
            <a:avLst>
              <a:gd name="adj" fmla="val 31579"/>
            </a:avLst>
          </a:prstGeom>
          <a:solidFill>
            <a:srgbClr val="101C32"/>
          </a:solidFill>
          <a:ln w="8890">
            <a:solidFill>
              <a:srgbClr val="263B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44768" y="576072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Фокус проекта: систематизировать публикации, а не выносить оценки людям.</a:t>
            </a:r>
            <a:endParaRPr lang="en-US" sz="107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6"/>
          </a:solidFill>
          <a:ln w="1270">
            <a:solidFill>
              <a:srgbClr val="050A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704088" cy="0"/>
          </a:xfrm>
          <a:prstGeom prst="line">
            <a:avLst/>
          </a:prstGeom>
          <a:noFill/>
          <a:ln w="16510">
            <a:solidFill>
              <a:srgbClr val="22D3EE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1064240" y="6455664"/>
            <a:ext cx="685800" cy="0"/>
          </a:xfrm>
          <a:prstGeom prst="line">
            <a:avLst/>
          </a:prstGeom>
          <a:noFill/>
          <a:ln w="1651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7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1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ЦЕЛЬ И ЗАДАЧИ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0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именно делает проект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978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Идея проста: превратить разрозненные публикации в набор, с которым удобно работать.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1627632"/>
            <a:ext cx="10945368" cy="0"/>
          </a:xfrm>
          <a:prstGeom prst="line">
            <a:avLst/>
          </a:prstGeom>
          <a:noFill/>
          <a:ln w="12700">
            <a:solidFill>
              <a:srgbClr val="263B5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21792" y="1874520"/>
            <a:ext cx="3657600" cy="1261872"/>
          </a:xfrm>
          <a:prstGeom prst="roundRect">
            <a:avLst>
              <a:gd name="adj" fmla="val 8696"/>
            </a:avLst>
          </a:prstGeom>
          <a:solidFill>
            <a:srgbClr val="0C1D34"/>
          </a:solidFill>
          <a:ln w="10795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874520"/>
            <a:ext cx="50292" cy="126187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0665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4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ЦЕЛЬ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" y="2350008"/>
            <a:ext cx="3154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Организовать новостные материалы о цифровых угрозах в структурированный датасет.</a:t>
            </a:r>
            <a:endParaRPr lang="en-US" sz="1650" dirty="0"/>
          </a:p>
        </p:txBody>
      </p:sp>
      <p:pic>
        <p:nvPicPr>
          <p:cNvPr id="14" name="Image 0" descr="/mnt/data/astana_cybersecurity.jpg"/>
          <p:cNvPicPr>
            <a:picLocks noChangeAspect="1"/>
          </p:cNvPicPr>
          <p:nvPr/>
        </p:nvPicPr>
        <p:blipFill>
          <a:blip r:embed="rId3"/>
          <a:srcRect l="2891" r="2891"/>
          <a:stretch/>
        </p:blipFill>
        <p:spPr>
          <a:xfrm>
            <a:off x="8430768" y="1856232"/>
            <a:ext cx="3136392" cy="1920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430768" y="1856232"/>
            <a:ext cx="3136392" cy="1920240"/>
          </a:xfrm>
          <a:prstGeom prst="roundRect">
            <a:avLst>
              <a:gd name="adj" fmla="val 5714"/>
            </a:avLst>
          </a:prstGeom>
          <a:solidFill>
            <a:srgbClr val="050A16">
              <a:alpha val="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13648" y="391363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готовый «детектор преступлений», а инструмент для обзора и первичного анализа публичных материалов.</a:t>
            </a:r>
            <a:endParaRPr lang="en-US" sz="1210" dirty="0"/>
          </a:p>
        </p:txBody>
      </p:sp>
      <p:sp>
        <p:nvSpPr>
          <p:cNvPr id="17" name="Shape 14"/>
          <p:cNvSpPr/>
          <p:nvPr/>
        </p:nvSpPr>
        <p:spPr>
          <a:xfrm>
            <a:off x="640080" y="3456432"/>
            <a:ext cx="3520440" cy="941832"/>
          </a:xfrm>
          <a:prstGeom prst="roundRect">
            <a:avLst>
              <a:gd name="adj" fmla="val 11650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3456432"/>
            <a:ext cx="50292" cy="94183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60273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99032" y="35753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Собрать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99032" y="387705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Искать публикации через RSS-запросы по заданным темам.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4434840" y="3456432"/>
            <a:ext cx="3520440" cy="941832"/>
          </a:xfrm>
          <a:prstGeom prst="roundRect">
            <a:avLst>
              <a:gd name="adj" fmla="val 11650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34840" y="3456432"/>
            <a:ext cx="50292" cy="941832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7720" y="360273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193792" y="35753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Очистить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193792" y="387705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Убрать дубликаты и привести основные поля к единому виду.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640080" y="4599432"/>
            <a:ext cx="3520440" cy="941832"/>
          </a:xfrm>
          <a:prstGeom prst="roundRect">
            <a:avLst>
              <a:gd name="adj" fmla="val 11650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4599432"/>
            <a:ext cx="50292" cy="94183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474573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399032" y="47183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Разметить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399032" y="502005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Отнести материалы к тематическим категориям по ключевым словам.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4434840" y="4599432"/>
            <a:ext cx="3520440" cy="941832"/>
          </a:xfrm>
          <a:prstGeom prst="roundRect">
            <a:avLst>
              <a:gd name="adj" fmla="val 11650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34840" y="4599432"/>
            <a:ext cx="50292" cy="941832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17720" y="474573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193792" y="47183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Показать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5193792" y="502005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Сделать графики, таблицу и фильтры для просмотра результата.</a:t>
            </a:r>
            <a:endParaRPr lang="en-US" sz="108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6"/>
          </a:solidFill>
          <a:ln w="1270">
            <a:solidFill>
              <a:srgbClr val="050A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704088" cy="0"/>
          </a:xfrm>
          <a:prstGeom prst="line">
            <a:avLst/>
          </a:prstGeom>
          <a:noFill/>
          <a:ln w="16510">
            <a:solidFill>
              <a:srgbClr val="22D3EE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1064240" y="6455664"/>
            <a:ext cx="685800" cy="0"/>
          </a:xfrm>
          <a:prstGeom prst="line">
            <a:avLst/>
          </a:prstGeom>
          <a:noFill/>
          <a:ln w="1651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7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1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СБОР ДАННЫХ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0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 поискового запроса до строки в таблице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978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Сбор организован через RSS-поиск Google News по заданным тематическим запросам.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1627632"/>
            <a:ext cx="10945368" cy="0"/>
          </a:xfrm>
          <a:prstGeom prst="line">
            <a:avLst/>
          </a:prstGeom>
          <a:noFill/>
          <a:ln w="12700">
            <a:solidFill>
              <a:srgbClr val="263B5A"/>
            </a:solidFill>
            <a:prstDash val="solid"/>
            <a:headEnd type="none"/>
            <a:tailEnd type="none"/>
          </a:ln>
        </p:spPr>
      </p:sp>
      <p:pic>
        <p:nvPicPr>
          <p:cNvPr id="10" name="Image 0" descr="/mnt/data/wide_cyberpunk_digital_themed_banner_image_with_a.png"/>
          <p:cNvPicPr>
            <a:picLocks noChangeAspect="1"/>
          </p:cNvPicPr>
          <p:nvPr/>
        </p:nvPicPr>
        <p:blipFill>
          <a:blip r:embed="rId3"/>
          <a:srcRect l="4145" r="4145"/>
          <a:stretch/>
        </p:blipFill>
        <p:spPr>
          <a:xfrm>
            <a:off x="621792" y="1883664"/>
            <a:ext cx="3657600" cy="1344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" y="1883664"/>
            <a:ext cx="3657600" cy="1344168"/>
          </a:xfrm>
          <a:prstGeom prst="roundRect">
            <a:avLst>
              <a:gd name="adj" fmla="val 8163"/>
            </a:avLst>
          </a:prstGeom>
          <a:solidFill>
            <a:srgbClr val="050A16">
              <a:alpha val="0"/>
            </a:srgbClr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3328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Публичные новостные публикации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9808" y="3675888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Запросы подбираются на русском и казахском языках; при необходимости поиск уточняется по доменам новостных площадок.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526280" y="1883664"/>
            <a:ext cx="7022592" cy="1024128"/>
          </a:xfrm>
          <a:prstGeom prst="roundRect">
            <a:avLst>
              <a:gd name="adj" fmla="val 10714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883664"/>
            <a:ext cx="50292" cy="1024128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09160" y="208483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B3141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440680" y="2039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Тематический запрос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40680" y="232257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 слова о шантаже, преследовании, угрозах и цифровой безопасности.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4526280" y="3145536"/>
            <a:ext cx="7022592" cy="1024128"/>
          </a:xfrm>
          <a:prstGeom prst="roundRect">
            <a:avLst>
              <a:gd name="adj" fmla="val 10714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26280" y="3145536"/>
            <a:ext cx="50292" cy="1024128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334670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61A46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440680" y="3300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RSS-лента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40680" y="358444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News возвращает заголовок, дату, краткое описание и ссылку, если поля доступны.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4526280" y="4407408"/>
            <a:ext cx="7022592" cy="1024128"/>
          </a:xfrm>
          <a:prstGeom prst="roundRect">
            <a:avLst>
              <a:gd name="adj" fmla="val 10714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4407408"/>
            <a:ext cx="50292" cy="1024128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4608576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B3141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09160" y="4608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440680" y="4562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Запись в датасет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440680" y="484632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Материалы собираются в таблицу, чтобы затем проверять, очищать и классифицировать их.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4526280" y="5779008"/>
            <a:ext cx="7022592" cy="320040"/>
          </a:xfrm>
          <a:prstGeom prst="roundRect">
            <a:avLst>
              <a:gd name="adj" fmla="val 34286"/>
            </a:avLst>
          </a:prstGeom>
          <a:solidFill>
            <a:srgbClr val="101C32"/>
          </a:solidFill>
          <a:ln w="8890">
            <a:solidFill>
              <a:srgbClr val="263B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90872" y="5815584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10" dirty="0">
                <a:solidFill>
                  <a:srgbClr val="FFBE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Важно: RSS-поиск зависит от слов запроса, доступности публикаций и времени запуска.</a:t>
            </a:r>
            <a:endParaRPr lang="en-US" sz="101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6"/>
          </a:solidFill>
          <a:ln w="1270">
            <a:solidFill>
              <a:srgbClr val="050A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704088" cy="0"/>
          </a:xfrm>
          <a:prstGeom prst="line">
            <a:avLst/>
          </a:prstGeom>
          <a:noFill/>
          <a:ln w="16510">
            <a:solidFill>
              <a:srgbClr val="22D3EE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1064240" y="6455664"/>
            <a:ext cx="685800" cy="0"/>
          </a:xfrm>
          <a:prstGeom prst="line">
            <a:avLst/>
          </a:prstGeom>
          <a:noFill/>
          <a:ln w="1651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7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1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МЕТОД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0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устроен весь процесс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978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Каждый этап решает свою задачу; ошибки на ранних этапах могут повлиять на итоговый анализ.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1627632"/>
            <a:ext cx="10945368" cy="0"/>
          </a:xfrm>
          <a:prstGeom prst="line">
            <a:avLst/>
          </a:prstGeom>
          <a:noFill/>
          <a:ln w="12700">
            <a:solidFill>
              <a:srgbClr val="263B5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0352" y="2359152"/>
            <a:ext cx="1755648" cy="1993392"/>
          </a:xfrm>
          <a:prstGeom prst="roundRect">
            <a:avLst>
              <a:gd name="adj" fmla="val 6250"/>
            </a:avLst>
          </a:prstGeom>
          <a:solidFill>
            <a:srgbClr val="0B1426"/>
          </a:solidFill>
          <a:ln w="10795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359152"/>
            <a:ext cx="50292" cy="19933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523744"/>
            <a:ext cx="438912" cy="384048"/>
          </a:xfrm>
          <a:prstGeom prst="roundRect">
            <a:avLst>
              <a:gd name="adj" fmla="val 28571"/>
            </a:avLst>
          </a:prstGeom>
          <a:solidFill>
            <a:srgbClr val="101C32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237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31181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740664" y="3502152"/>
            <a:ext cx="1335024" cy="0"/>
          </a:xfrm>
          <a:prstGeom prst="line">
            <a:avLst/>
          </a:prstGeom>
          <a:noFill/>
          <a:ln w="12700">
            <a:solidFill>
              <a:srgbClr val="22D3EE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76656" y="3630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RSS-запросы</a:t>
            </a:r>
            <a:endParaRPr lang="en-US" sz="1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темам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2299716" y="3191256"/>
            <a:ext cx="256032" cy="310896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78024" y="2359152"/>
            <a:ext cx="1755648" cy="1993392"/>
          </a:xfrm>
          <a:prstGeom prst="roundRect">
            <a:avLst>
              <a:gd name="adj" fmla="val 6250"/>
            </a:avLst>
          </a:prstGeom>
          <a:solidFill>
            <a:srgbClr val="0B1426"/>
          </a:solidFill>
          <a:ln w="10795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78024" y="2359152"/>
            <a:ext cx="50292" cy="1993392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3472" y="2523744"/>
            <a:ext cx="438912" cy="384048"/>
          </a:xfrm>
          <a:prstGeom prst="roundRect">
            <a:avLst>
              <a:gd name="adj" fmla="val 28571"/>
            </a:avLst>
          </a:prstGeom>
          <a:solidFill>
            <a:srgbClr val="101C32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25237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42616" y="31181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СБОР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2688336" y="3502152"/>
            <a:ext cx="1335024" cy="0"/>
          </a:xfrm>
          <a:prstGeom prst="line">
            <a:avLst/>
          </a:prstGeom>
          <a:noFill/>
          <a:ln w="1270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2624328" y="3630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Заголовки,</a:t>
            </a:r>
            <a:endParaRPr lang="en-US" sz="1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даты, ссылки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4247388" y="3191256"/>
            <a:ext cx="256032" cy="310896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25696" y="2359152"/>
            <a:ext cx="1755648" cy="1993392"/>
          </a:xfrm>
          <a:prstGeom prst="roundRect">
            <a:avLst>
              <a:gd name="adj" fmla="val 6250"/>
            </a:avLst>
          </a:prstGeom>
          <a:solidFill>
            <a:srgbClr val="0B1426"/>
          </a:solidFill>
          <a:ln w="10795">
            <a:solidFill>
              <a:srgbClr val="EC4D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25696" y="2359152"/>
            <a:ext cx="50292" cy="1993392"/>
          </a:xfrm>
          <a:prstGeom prst="rect">
            <a:avLst/>
          </a:prstGeom>
          <a:solidFill>
            <a:srgbClr val="EC4DD7"/>
          </a:solidFill>
          <a:ln w="1270">
            <a:solidFill>
              <a:srgbClr val="EC4DD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81144" y="2523744"/>
            <a:ext cx="438912" cy="384048"/>
          </a:xfrm>
          <a:prstGeom prst="roundRect">
            <a:avLst>
              <a:gd name="adj" fmla="val 28571"/>
            </a:avLst>
          </a:prstGeom>
          <a:solidFill>
            <a:srgbClr val="101C32"/>
          </a:solidFill>
          <a:ln w="8890">
            <a:solidFill>
              <a:srgbClr val="EC4D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81144" y="25237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C4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90288" y="31181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ОЧИСТКА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4636008" y="3502152"/>
            <a:ext cx="1335024" cy="0"/>
          </a:xfrm>
          <a:prstGeom prst="line">
            <a:avLst/>
          </a:prstGeom>
          <a:noFill/>
          <a:ln w="12700">
            <a:solidFill>
              <a:srgbClr val="EC4DD7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4572000" y="3630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Пустые поля</a:t>
            </a:r>
            <a:endParaRPr lang="en-US" sz="1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дубликаты</a:t>
            </a:r>
            <a:endParaRPr lang="en-US" sz="1170" dirty="0"/>
          </a:p>
        </p:txBody>
      </p:sp>
      <p:sp>
        <p:nvSpPr>
          <p:cNvPr id="33" name="Shape 31"/>
          <p:cNvSpPr/>
          <p:nvPr/>
        </p:nvSpPr>
        <p:spPr>
          <a:xfrm>
            <a:off x="6195060" y="3191256"/>
            <a:ext cx="256032" cy="310896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73368" y="2359152"/>
            <a:ext cx="1755648" cy="1993392"/>
          </a:xfrm>
          <a:prstGeom prst="roundRect">
            <a:avLst>
              <a:gd name="adj" fmla="val 6250"/>
            </a:avLst>
          </a:prstGeom>
          <a:solidFill>
            <a:srgbClr val="0B1426"/>
          </a:solidFill>
          <a:ln w="10795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2359152"/>
            <a:ext cx="50292" cy="19933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28816" y="2523744"/>
            <a:ext cx="438912" cy="384048"/>
          </a:xfrm>
          <a:prstGeom prst="roundRect">
            <a:avLst>
              <a:gd name="adj" fmla="val 28571"/>
            </a:avLst>
          </a:prstGeom>
          <a:solidFill>
            <a:srgbClr val="101C32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25237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1181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КАТЕГОРИИ</a:t>
            </a:r>
            <a:endParaRPr lang="en-US" sz="1260" dirty="0"/>
          </a:p>
        </p:txBody>
      </p:sp>
      <p:sp>
        <p:nvSpPr>
          <p:cNvPr id="39" name="Shape 37"/>
          <p:cNvSpPr/>
          <p:nvPr/>
        </p:nvSpPr>
        <p:spPr>
          <a:xfrm>
            <a:off x="6583680" y="3502152"/>
            <a:ext cx="1335024" cy="0"/>
          </a:xfrm>
          <a:prstGeom prst="line">
            <a:avLst/>
          </a:prstGeom>
          <a:noFill/>
          <a:ln w="12700">
            <a:solidFill>
              <a:srgbClr val="22D3EE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6519672" y="3630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Правила по</a:t>
            </a:r>
            <a:endParaRPr lang="en-US" sz="1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ключевым словам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142732" y="3191256"/>
            <a:ext cx="256032" cy="310896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21040" y="2359152"/>
            <a:ext cx="1755648" cy="1993392"/>
          </a:xfrm>
          <a:prstGeom prst="roundRect">
            <a:avLst>
              <a:gd name="adj" fmla="val 6250"/>
            </a:avLst>
          </a:prstGeom>
          <a:solidFill>
            <a:srgbClr val="0B1426"/>
          </a:solidFill>
          <a:ln w="10795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2359152"/>
            <a:ext cx="50292" cy="1993392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76488" y="2523744"/>
            <a:ext cx="438912" cy="384048"/>
          </a:xfrm>
          <a:prstGeom prst="roundRect">
            <a:avLst>
              <a:gd name="adj" fmla="val 28571"/>
            </a:avLst>
          </a:prstGeom>
          <a:solidFill>
            <a:srgbClr val="101C32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76488" y="25237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85632" y="31181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АНАЛИТИКА</a:t>
            </a:r>
            <a:endParaRPr lang="en-US" sz="1260" dirty="0"/>
          </a:p>
        </p:txBody>
      </p:sp>
      <p:sp>
        <p:nvSpPr>
          <p:cNvPr id="47" name="Shape 45"/>
          <p:cNvSpPr/>
          <p:nvPr/>
        </p:nvSpPr>
        <p:spPr>
          <a:xfrm>
            <a:off x="8531352" y="3502152"/>
            <a:ext cx="1335024" cy="0"/>
          </a:xfrm>
          <a:prstGeom prst="line">
            <a:avLst/>
          </a:prstGeom>
          <a:noFill/>
          <a:ln w="1270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8467344" y="3630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Сводки и</a:t>
            </a:r>
            <a:endParaRPr lang="en-US" sz="1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графики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>
            <a:off x="10090404" y="3191256"/>
            <a:ext cx="256032" cy="310896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68712" y="2359152"/>
            <a:ext cx="1755648" cy="1993392"/>
          </a:xfrm>
          <a:prstGeom prst="roundRect">
            <a:avLst>
              <a:gd name="adj" fmla="val 6250"/>
            </a:avLst>
          </a:prstGeom>
          <a:solidFill>
            <a:srgbClr val="0B1426"/>
          </a:solidFill>
          <a:ln w="10795">
            <a:solidFill>
              <a:srgbClr val="36D6B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68712" y="2359152"/>
            <a:ext cx="50292" cy="1993392"/>
          </a:xfrm>
          <a:prstGeom prst="rect">
            <a:avLst/>
          </a:prstGeom>
          <a:solidFill>
            <a:srgbClr val="36D6B4"/>
          </a:solidFill>
          <a:ln w="1270">
            <a:solidFill>
              <a:srgbClr val="36D6B4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424160" y="2523744"/>
            <a:ext cx="438912" cy="384048"/>
          </a:xfrm>
          <a:prstGeom prst="roundRect">
            <a:avLst>
              <a:gd name="adj" fmla="val 28571"/>
            </a:avLst>
          </a:prstGeom>
          <a:solidFill>
            <a:srgbClr val="101C32"/>
          </a:solidFill>
          <a:ln w="8890">
            <a:solidFill>
              <a:srgbClr val="36D6B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424160" y="25237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6D6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433304" y="31181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ПУБЛИКАЦИЯ</a:t>
            </a:r>
            <a:endParaRPr lang="en-US" sz="1260" dirty="0"/>
          </a:p>
        </p:txBody>
      </p:sp>
      <p:sp>
        <p:nvSpPr>
          <p:cNvPr id="55" name="Shape 53"/>
          <p:cNvSpPr/>
          <p:nvPr/>
        </p:nvSpPr>
        <p:spPr>
          <a:xfrm>
            <a:off x="10479024" y="3502152"/>
            <a:ext cx="1335024" cy="0"/>
          </a:xfrm>
          <a:prstGeom prst="line">
            <a:avLst/>
          </a:prstGeom>
          <a:noFill/>
          <a:ln w="12700">
            <a:solidFill>
              <a:srgbClr val="36D6B4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6" name="Text 54"/>
          <p:cNvSpPr/>
          <p:nvPr/>
        </p:nvSpPr>
        <p:spPr>
          <a:xfrm>
            <a:off x="10415016" y="3630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и</a:t>
            </a:r>
            <a:endParaRPr lang="en-US" sz="1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дашборд</a:t>
            </a:r>
            <a:endParaRPr lang="en-US" sz="1170" dirty="0"/>
          </a:p>
        </p:txBody>
      </p:sp>
      <p:sp>
        <p:nvSpPr>
          <p:cNvPr id="57" name="Shape 55"/>
          <p:cNvSpPr/>
          <p:nvPr/>
        </p:nvSpPr>
        <p:spPr>
          <a:xfrm>
            <a:off x="621792" y="4828032"/>
            <a:ext cx="10954512" cy="987552"/>
          </a:xfrm>
          <a:prstGeom prst="roundRect">
            <a:avLst>
              <a:gd name="adj" fmla="val 11111"/>
            </a:avLst>
          </a:prstGeom>
          <a:solidFill>
            <a:srgbClr val="0B1D31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" y="4828032"/>
            <a:ext cx="50292" cy="987552"/>
          </a:xfrm>
          <a:prstGeom prst="rect">
            <a:avLst/>
          </a:prstGeom>
          <a:solidFill>
            <a:srgbClr val="36D6B4"/>
          </a:solidFill>
          <a:ln w="1270">
            <a:solidFill>
              <a:srgbClr val="36D6B4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" y="5047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36D6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828800" y="4983480"/>
            <a:ext cx="9235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Таблица, с которой можно работать повторно, + графики по категориям и источникам + интерактивный просмотр.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8680" y="60533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i="1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Такой подход делает процесс прозрачным: понятно, откуда появились записи и что именно с ними делал код.</a:t>
            </a:r>
            <a:endParaRPr lang="en-US" sz="118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6"/>
          </a:solidFill>
          <a:ln w="1270">
            <a:solidFill>
              <a:srgbClr val="050A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704088" cy="0"/>
          </a:xfrm>
          <a:prstGeom prst="line">
            <a:avLst/>
          </a:prstGeom>
          <a:noFill/>
          <a:ln w="16510">
            <a:solidFill>
              <a:srgbClr val="22D3EE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1064240" y="6455664"/>
            <a:ext cx="685800" cy="0"/>
          </a:xfrm>
          <a:prstGeom prst="line">
            <a:avLst/>
          </a:prstGeom>
          <a:noFill/>
          <a:ln w="1651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7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1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КЛАССИФИКАЦИЯ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0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Пять тематических направлений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978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Категории помогают упорядочить публикации — но не заменяют чтение и проверку контекста.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1627632"/>
            <a:ext cx="10945368" cy="0"/>
          </a:xfrm>
          <a:prstGeom prst="line">
            <a:avLst/>
          </a:prstGeom>
          <a:noFill/>
          <a:ln w="12700">
            <a:solidFill>
              <a:srgbClr val="263B5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21792" y="1874520"/>
            <a:ext cx="3200400" cy="1517904"/>
          </a:xfrm>
          <a:prstGeom prst="roundRect">
            <a:avLst>
              <a:gd name="adj" fmla="val 7229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874520"/>
            <a:ext cx="50292" cy="1517904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039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8448" y="201168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Шантаж и вымогательство</a:t>
            </a:r>
            <a:endParaRPr lang="en-US" sz="131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Публикации, где речь идёт о давлении с целью получить деньги, имущество или выполнить требование.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498848" y="1874520"/>
            <a:ext cx="3200400" cy="1517904"/>
          </a:xfrm>
          <a:prstGeom prst="roundRect">
            <a:avLst>
              <a:gd name="adj" fmla="val 7229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8848" y="1874520"/>
            <a:ext cx="50292" cy="1517904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2039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75504" y="201168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Цифровое преследование</a:t>
            </a:r>
            <a:endParaRPr lang="en-US" sz="1310" dirty="0"/>
          </a:p>
        </p:txBody>
      </p:sp>
      <p:sp>
        <p:nvSpPr>
          <p:cNvPr id="19" name="Text 17"/>
          <p:cNvSpPr/>
          <p:nvPr/>
        </p:nvSpPr>
        <p:spPr>
          <a:xfrm>
            <a:off x="4700016" y="25603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Повторяющиеся нежелательные контакты, слежка в сети или обход блокировок.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375904" y="1874520"/>
            <a:ext cx="3200400" cy="1517904"/>
          </a:xfrm>
          <a:prstGeom prst="roundRect">
            <a:avLst>
              <a:gd name="adj" fmla="val 7229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5904" y="1874520"/>
            <a:ext cx="50292" cy="1517904"/>
          </a:xfrm>
          <a:prstGeom prst="rect">
            <a:avLst/>
          </a:prstGeom>
          <a:solidFill>
            <a:srgbClr val="EC4DD7"/>
          </a:solidFill>
          <a:ln w="1270">
            <a:solidFill>
              <a:srgbClr val="EC4DD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2039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C4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52560" y="201168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Кибербуллинг и угрозы</a:t>
            </a:r>
            <a:endParaRPr lang="en-US" sz="1310" dirty="0"/>
          </a:p>
        </p:txBody>
      </p:sp>
      <p:sp>
        <p:nvSpPr>
          <p:cNvPr id="24" name="Text 22"/>
          <p:cNvSpPr/>
          <p:nvPr/>
        </p:nvSpPr>
        <p:spPr>
          <a:xfrm>
            <a:off x="8577072" y="25603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Онлайн-оскорбления, запугивание и угрозы в цифровой среде.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2560320" y="3767328"/>
            <a:ext cx="3200400" cy="1517904"/>
          </a:xfrm>
          <a:prstGeom prst="roundRect">
            <a:avLst>
              <a:gd name="adj" fmla="val 7229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3767328"/>
            <a:ext cx="50292" cy="1517904"/>
          </a:xfrm>
          <a:prstGeom prst="rect">
            <a:avLst/>
          </a:prstGeom>
          <a:solidFill>
            <a:srgbClr val="168BFF"/>
          </a:solidFill>
          <a:ln w="1270">
            <a:solidFill>
              <a:srgbClr val="168B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34056" y="3931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36976" y="3904488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Интимные материалы без согласия</a:t>
            </a:r>
            <a:endParaRPr lang="en-US" sz="1310" dirty="0"/>
          </a:p>
        </p:txBody>
      </p:sp>
      <p:sp>
        <p:nvSpPr>
          <p:cNvPr id="29" name="Text 27"/>
          <p:cNvSpPr/>
          <p:nvPr/>
        </p:nvSpPr>
        <p:spPr>
          <a:xfrm>
            <a:off x="2761488" y="445312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Сообщения о распространении или угрозах распространения интимных материалов без согласия человека.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437376" y="3767328"/>
            <a:ext cx="3200400" cy="1517904"/>
          </a:xfrm>
          <a:prstGeom prst="roundRect">
            <a:avLst>
              <a:gd name="adj" fmla="val 7229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37376" y="3767328"/>
            <a:ext cx="50292" cy="1517904"/>
          </a:xfrm>
          <a:prstGeom prst="rect">
            <a:avLst/>
          </a:prstGeom>
          <a:solidFill>
            <a:srgbClr val="36D6B4"/>
          </a:solidFill>
          <a:ln w="1270">
            <a:solidFill>
              <a:srgbClr val="36D6B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3931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6D6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14032" y="3904488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Цифровое мошенничество</a:t>
            </a:r>
            <a:endParaRPr lang="en-US" sz="1310" dirty="0"/>
          </a:p>
        </p:txBody>
      </p:sp>
      <p:sp>
        <p:nvSpPr>
          <p:cNvPr id="34" name="Text 32"/>
          <p:cNvSpPr/>
          <p:nvPr/>
        </p:nvSpPr>
        <p:spPr>
          <a:xfrm>
            <a:off x="6638544" y="445312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Публикации о цифровых схемах обмана, которые могут пересекаться с другими категориями.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21792" y="5650992"/>
            <a:ext cx="10954512" cy="438912"/>
          </a:xfrm>
          <a:prstGeom prst="roundRect">
            <a:avLst>
              <a:gd name="adj" fmla="val 25000"/>
            </a:avLst>
          </a:prstGeom>
          <a:solidFill>
            <a:srgbClr val="211B32"/>
          </a:solidFill>
          <a:ln w="8890">
            <a:solidFill>
              <a:srgbClr val="6C48A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5733288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10" dirty="0">
                <a:solidFill>
                  <a:srgbClr val="E7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Одна публикация может затрагивать сразу несколько тем, а ключевое слово иногда встречается в нерелевантном контексте.</a:t>
            </a:r>
            <a:endParaRPr lang="en-US" sz="111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6"/>
          </a:solidFill>
          <a:ln w="1270">
            <a:solidFill>
              <a:srgbClr val="050A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704088" cy="0"/>
          </a:xfrm>
          <a:prstGeom prst="line">
            <a:avLst/>
          </a:prstGeom>
          <a:noFill/>
          <a:ln w="16510">
            <a:solidFill>
              <a:srgbClr val="22D3EE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1064240" y="6455664"/>
            <a:ext cx="685800" cy="0"/>
          </a:xfrm>
          <a:prstGeom prst="line">
            <a:avLst/>
          </a:prstGeom>
          <a:noFill/>
          <a:ln w="1651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7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1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ДАННЫЕ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0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выглядит датасет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978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Таблица сохраняет базовые сведения о публикации и помогает быстро перейти от обзора к исходному материалу.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1627632"/>
            <a:ext cx="10945368" cy="0"/>
          </a:xfrm>
          <a:prstGeom prst="line">
            <a:avLst/>
          </a:prstGeom>
          <a:noFill/>
          <a:ln w="12700">
            <a:solidFill>
              <a:srgbClr val="263B5A"/>
            </a:solidFill>
            <a:prstDash val="solid"/>
            <a:headEnd type="none"/>
            <a:tailEnd type="none"/>
          </a:ln>
        </p:spPr>
      </p:sp>
      <p:pic>
        <p:nvPicPr>
          <p:cNvPr id="10" name="Image 0" descr="/mnt/data/image(9).png"/>
          <p:cNvPicPr>
            <a:picLocks noChangeAspect="1"/>
          </p:cNvPicPr>
          <p:nvPr/>
        </p:nvPicPr>
        <p:blipFill>
          <a:blip r:embed="rId3"/>
          <a:srcRect l="12302" r="12302"/>
          <a:stretch/>
        </p:blipFill>
        <p:spPr>
          <a:xfrm>
            <a:off x="621792" y="1901952"/>
            <a:ext cx="6903720" cy="25786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" y="1901952"/>
            <a:ext cx="6903720" cy="2578608"/>
          </a:xfrm>
          <a:prstGeom prst="roundRect">
            <a:avLst>
              <a:gd name="adj" fmla="val 4255"/>
            </a:avLst>
          </a:prstGeom>
          <a:solidFill>
            <a:srgbClr val="050A16">
              <a:alpha val="0"/>
            </a:srgbClr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4562856"/>
            <a:ext cx="6812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просмотра CSV в таблице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99832" y="1911096"/>
            <a:ext cx="3767328" cy="685800"/>
          </a:xfrm>
          <a:prstGeom prst="roundRect">
            <a:avLst>
              <a:gd name="adj" fmla="val 16000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99832" y="1911096"/>
            <a:ext cx="50292" cy="685800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82712" y="2002536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0" y="1993392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DC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Заголовок публикации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7799832" y="2743200"/>
            <a:ext cx="3767328" cy="685800"/>
          </a:xfrm>
          <a:prstGeom prst="roundRect">
            <a:avLst>
              <a:gd name="adj" fmla="val 16000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99832" y="2743200"/>
            <a:ext cx="50292" cy="685800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82712" y="2834640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0" y="2825496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DC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Дата, указанная источником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7799832" y="3575304"/>
            <a:ext cx="3767328" cy="685800"/>
          </a:xfrm>
          <a:prstGeom prst="roundRect">
            <a:avLst>
              <a:gd name="adj" fmla="val 16000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99832" y="3575304"/>
            <a:ext cx="50292" cy="685800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82712" y="3666744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44000" y="3657600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DC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Краткое описание из RSS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799832" y="4407408"/>
            <a:ext cx="3767328" cy="685800"/>
          </a:xfrm>
          <a:prstGeom prst="roundRect">
            <a:avLst>
              <a:gd name="adj" fmla="val 16000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99832" y="4407408"/>
            <a:ext cx="50292" cy="685800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82712" y="4498848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/ url / category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281160" y="4489704"/>
            <a:ext cx="2084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DC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Дополнительные поля — если они сохранены в обработанной версии файла</a:t>
            </a:r>
            <a:endParaRPr lang="en-US" sz="1060" dirty="0"/>
          </a:p>
        </p:txBody>
      </p:sp>
      <p:sp>
        <p:nvSpPr>
          <p:cNvPr id="29" name="Shape 26"/>
          <p:cNvSpPr/>
          <p:nvPr/>
        </p:nvSpPr>
        <p:spPr>
          <a:xfrm>
            <a:off x="621792" y="5074920"/>
            <a:ext cx="10945368" cy="758952"/>
          </a:xfrm>
          <a:prstGeom prst="roundRect">
            <a:avLst>
              <a:gd name="adj" fmla="val 14458"/>
            </a:avLst>
          </a:prstGeom>
          <a:solidFill>
            <a:srgbClr val="101C32"/>
          </a:solidFill>
          <a:ln w="8890">
            <a:solidFill>
              <a:srgbClr val="263B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1248" y="5230368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это полезно?</a:t>
            </a:r>
            <a:endParaRPr lang="en-US" sz="1330" dirty="0"/>
          </a:p>
        </p:txBody>
      </p:sp>
      <p:sp>
        <p:nvSpPr>
          <p:cNvPr id="31" name="Text 28"/>
          <p:cNvSpPr/>
          <p:nvPr/>
        </p:nvSpPr>
        <p:spPr>
          <a:xfrm>
            <a:off x="2779776" y="5202936"/>
            <a:ext cx="8439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Таблица делает данные переносимыми: их можно повторно фильтровать, строить новые графики и вручную проверять спорные классификации.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804672" y="60716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FFBE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Дата публикации не равна дате инцидента: это важно помнить при интерпретации временных рядов.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6"/>
          </a:solidFill>
          <a:ln w="1270">
            <a:solidFill>
              <a:srgbClr val="050A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704088" cy="0"/>
          </a:xfrm>
          <a:prstGeom prst="line">
            <a:avLst/>
          </a:prstGeom>
          <a:noFill/>
          <a:ln w="16510">
            <a:solidFill>
              <a:srgbClr val="22D3EE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1064240" y="6455664"/>
            <a:ext cx="685800" cy="0"/>
          </a:xfrm>
          <a:prstGeom prst="line">
            <a:avLst/>
          </a:prstGeom>
          <a:noFill/>
          <a:ln w="1651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7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1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ИНТЕРФЕЙС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0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Дашборд: исследовать, а не листать вручную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978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Веб-интерфейс собирает ключевые действия в одном месте: поиск, фильтры, график и список публикаций.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1627632"/>
            <a:ext cx="10945368" cy="0"/>
          </a:xfrm>
          <a:prstGeom prst="line">
            <a:avLst/>
          </a:prstGeom>
          <a:noFill/>
          <a:ln w="12700">
            <a:solidFill>
              <a:srgbClr val="263B5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21792" y="1856232"/>
            <a:ext cx="7360920" cy="4069080"/>
          </a:xfrm>
          <a:prstGeom prst="roundRect">
            <a:avLst>
              <a:gd name="adj" fmla="val 2697"/>
            </a:avLst>
          </a:prstGeom>
          <a:solidFill>
            <a:srgbClr val="071121"/>
          </a:solidFill>
          <a:ln w="10795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011680"/>
            <a:ext cx="7050024" cy="429768"/>
          </a:xfrm>
          <a:prstGeom prst="roundRect">
            <a:avLst>
              <a:gd name="adj" fmla="val 25532"/>
            </a:avLst>
          </a:prstGeom>
          <a:solidFill>
            <a:srgbClr val="0D1A2F"/>
          </a:solidFill>
          <a:ln w="1270">
            <a:solidFill>
              <a:srgbClr val="0D1A2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215798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215798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6152" y="215798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208483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HARASSMENT KZ  /  Analytics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2587752"/>
            <a:ext cx="3657600" cy="393192"/>
          </a:xfrm>
          <a:prstGeom prst="roundRect">
            <a:avLst>
              <a:gd name="adj" fmla="val 27907"/>
            </a:avLst>
          </a:prstGeom>
          <a:solidFill>
            <a:srgbClr val="0B192C"/>
          </a:solidFill>
          <a:ln w="8890">
            <a:solidFill>
              <a:srgbClr val="3150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267004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Поиск по заголовкам и описанию...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736592" y="2587752"/>
            <a:ext cx="1353312" cy="393192"/>
          </a:xfrm>
          <a:prstGeom prst="roundRect">
            <a:avLst>
              <a:gd name="adj" fmla="val 27907"/>
            </a:avLst>
          </a:prstGeom>
          <a:solidFill>
            <a:srgbClr val="0B192C"/>
          </a:solidFill>
          <a:ln w="8890">
            <a:solidFill>
              <a:srgbClr val="315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679192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C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Все категории  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99632" y="2587752"/>
            <a:ext cx="1344168" cy="393192"/>
          </a:xfrm>
          <a:prstGeom prst="roundRect">
            <a:avLst>
              <a:gd name="adj" fmla="val 27907"/>
            </a:avLst>
          </a:prstGeom>
          <a:solidFill>
            <a:srgbClr val="0B192C"/>
          </a:solidFill>
          <a:ln w="8890">
            <a:solidFill>
              <a:srgbClr val="3150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267919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C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Все источники  ▾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4400" y="3182112"/>
            <a:ext cx="3273552" cy="1600200"/>
          </a:xfrm>
          <a:prstGeom prst="roundRect">
            <a:avLst>
              <a:gd name="adj" fmla="val 6857"/>
            </a:avLst>
          </a:prstGeom>
          <a:solidFill>
            <a:srgbClr val="0A1728"/>
          </a:solidFill>
          <a:ln w="10160">
            <a:solidFill>
              <a:srgbClr val="253C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136" y="3300984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Публикации по категориям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234440" y="3931920"/>
            <a:ext cx="265176" cy="566928"/>
          </a:xfrm>
          <a:prstGeom prst="roundRect">
            <a:avLst>
              <a:gd name="adj" fmla="val 41379"/>
            </a:avLst>
          </a:prstGeom>
          <a:solidFill>
            <a:srgbClr val="22D3EE">
              <a:alpha val="92000"/>
            </a:srgbClr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97864" y="4498848"/>
            <a:ext cx="347472" cy="0"/>
          </a:xfrm>
          <a:prstGeom prst="line">
            <a:avLst/>
          </a:prstGeom>
          <a:noFill/>
          <a:ln w="7620">
            <a:solidFill>
              <a:srgbClr val="263B5A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783080" y="3630168"/>
            <a:ext cx="265176" cy="868680"/>
          </a:xfrm>
          <a:prstGeom prst="roundRect">
            <a:avLst>
              <a:gd name="adj" fmla="val 41379"/>
            </a:avLst>
          </a:prstGeom>
          <a:solidFill>
            <a:srgbClr val="A78BFA">
              <a:alpha val="92000"/>
            </a:srgbClr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46504" y="4498848"/>
            <a:ext cx="347472" cy="0"/>
          </a:xfrm>
          <a:prstGeom prst="line">
            <a:avLst/>
          </a:prstGeom>
          <a:noFill/>
          <a:ln w="7620">
            <a:solidFill>
              <a:srgbClr val="263B5A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331720" y="3803904"/>
            <a:ext cx="265176" cy="694944"/>
          </a:xfrm>
          <a:prstGeom prst="roundRect">
            <a:avLst>
              <a:gd name="adj" fmla="val 41379"/>
            </a:avLst>
          </a:prstGeom>
          <a:solidFill>
            <a:srgbClr val="EC4DD7">
              <a:alpha val="92000"/>
            </a:srgbClr>
          </a:solidFill>
          <a:ln w="1270">
            <a:solidFill>
              <a:srgbClr val="EC4DD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95144" y="4498848"/>
            <a:ext cx="347472" cy="0"/>
          </a:xfrm>
          <a:prstGeom prst="line">
            <a:avLst/>
          </a:prstGeom>
          <a:noFill/>
          <a:ln w="7620">
            <a:solidFill>
              <a:srgbClr val="263B5A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880360" y="4078224"/>
            <a:ext cx="265176" cy="420624"/>
          </a:xfrm>
          <a:prstGeom prst="roundRect">
            <a:avLst>
              <a:gd name="adj" fmla="val 41379"/>
            </a:avLst>
          </a:prstGeom>
          <a:solidFill>
            <a:srgbClr val="168BFF">
              <a:alpha val="92000"/>
            </a:srgbClr>
          </a:solidFill>
          <a:ln w="1270">
            <a:solidFill>
              <a:srgbClr val="168B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43784" y="4498848"/>
            <a:ext cx="347472" cy="0"/>
          </a:xfrm>
          <a:prstGeom prst="line">
            <a:avLst/>
          </a:prstGeom>
          <a:noFill/>
          <a:ln w="7620">
            <a:solidFill>
              <a:srgbClr val="263B5A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3429000" y="3749040"/>
            <a:ext cx="265176" cy="749808"/>
          </a:xfrm>
          <a:prstGeom prst="roundRect">
            <a:avLst>
              <a:gd name="adj" fmla="val 41379"/>
            </a:avLst>
          </a:prstGeom>
          <a:solidFill>
            <a:srgbClr val="36D6B4">
              <a:alpha val="92000"/>
            </a:srgbClr>
          </a:solidFill>
          <a:ln w="1270">
            <a:solidFill>
              <a:srgbClr val="36D6B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92424" y="4498848"/>
            <a:ext cx="347472" cy="0"/>
          </a:xfrm>
          <a:prstGeom prst="line">
            <a:avLst/>
          </a:prstGeom>
          <a:noFill/>
          <a:ln w="7620">
            <a:solidFill>
              <a:srgbClr val="263B5A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1051560" y="4608576"/>
            <a:ext cx="2999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Схематичное отображение — фактические значения загружаются из CSV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4343400" y="3182112"/>
            <a:ext cx="3200400" cy="2240280"/>
          </a:xfrm>
          <a:prstGeom prst="roundRect">
            <a:avLst>
              <a:gd name="adj" fmla="val 4898"/>
            </a:avLst>
          </a:prstGeom>
          <a:solidFill>
            <a:srgbClr val="0A1728"/>
          </a:solidFill>
          <a:ln w="10160">
            <a:solidFill>
              <a:srgbClr val="253C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3300984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Список публикаций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17136" y="3630168"/>
            <a:ext cx="2825496" cy="283464"/>
          </a:xfrm>
          <a:prstGeom prst="roundRect">
            <a:avLst>
              <a:gd name="adj" fmla="val 38710"/>
            </a:avLst>
          </a:prstGeom>
          <a:solidFill>
            <a:srgbClr val="122740"/>
          </a:solidFill>
          <a:ln w="1270">
            <a:solidFill>
              <a:srgbClr val="12274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66674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Дата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111496" y="3666744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Заголовок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519672" y="3666744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Категория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517136" y="4224528"/>
            <a:ext cx="2825496" cy="0"/>
          </a:xfrm>
          <a:prstGeom prst="line">
            <a:avLst/>
          </a:prstGeom>
          <a:noFill/>
          <a:ln w="6985">
            <a:solidFill>
              <a:srgbClr val="263B5A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4581144" y="397764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2024…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111496" y="3977640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DC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Заголовок публикации…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6501384" y="3991356"/>
            <a:ext cx="758952" cy="182880"/>
          </a:xfrm>
          <a:prstGeom prst="roundRect">
            <a:avLst>
              <a:gd name="adj" fmla="val 60000"/>
            </a:avLst>
          </a:prstGeom>
          <a:solidFill>
            <a:srgbClr val="22D3EE">
              <a:alpha val="18000"/>
            </a:srgbClr>
          </a:solidFill>
          <a:ln w="254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17136" y="4535424"/>
            <a:ext cx="2825496" cy="0"/>
          </a:xfrm>
          <a:prstGeom prst="line">
            <a:avLst/>
          </a:prstGeom>
          <a:noFill/>
          <a:ln w="6985">
            <a:solidFill>
              <a:srgbClr val="263B5A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4581144" y="4288536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2023…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111496" y="4288536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DC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Новость о цифровой угрозе…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6501384" y="4302252"/>
            <a:ext cx="758952" cy="182880"/>
          </a:xfrm>
          <a:prstGeom prst="roundRect">
            <a:avLst>
              <a:gd name="adj" fmla="val 60000"/>
            </a:avLst>
          </a:prstGeom>
          <a:solidFill>
            <a:srgbClr val="A78BFA">
              <a:alpha val="18000"/>
            </a:srgbClr>
          </a:solidFill>
          <a:ln w="254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17136" y="4846320"/>
            <a:ext cx="2825496" cy="0"/>
          </a:xfrm>
          <a:prstGeom prst="line">
            <a:avLst/>
          </a:prstGeom>
          <a:noFill/>
          <a:ln w="6985">
            <a:solidFill>
              <a:srgbClr val="263B5A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4581144" y="4599432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2021…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111496" y="4599432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DC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Материал по теме…</a:t>
            </a:r>
            <a:endParaRPr lang="en-US" sz="730" dirty="0"/>
          </a:p>
        </p:txBody>
      </p:sp>
      <p:sp>
        <p:nvSpPr>
          <p:cNvPr id="52" name="Shape 50"/>
          <p:cNvSpPr/>
          <p:nvPr/>
        </p:nvSpPr>
        <p:spPr>
          <a:xfrm>
            <a:off x="6501384" y="4613148"/>
            <a:ext cx="758952" cy="182880"/>
          </a:xfrm>
          <a:prstGeom prst="roundRect">
            <a:avLst>
              <a:gd name="adj" fmla="val 60000"/>
            </a:avLst>
          </a:prstGeom>
          <a:solidFill>
            <a:srgbClr val="EC4DD7">
              <a:alpha val="18000"/>
            </a:srgbClr>
          </a:solidFill>
          <a:ln w="2540">
            <a:solidFill>
              <a:srgbClr val="EC4DD7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17136" y="5157216"/>
            <a:ext cx="2825496" cy="0"/>
          </a:xfrm>
          <a:prstGeom prst="line">
            <a:avLst/>
          </a:prstGeom>
          <a:noFill/>
          <a:ln w="6985">
            <a:solidFill>
              <a:srgbClr val="263B5A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4581144" y="4910328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2020…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111496" y="4910328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DC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Сообщение из источника…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6501384" y="4924044"/>
            <a:ext cx="758952" cy="182880"/>
          </a:xfrm>
          <a:prstGeom prst="roundRect">
            <a:avLst>
              <a:gd name="adj" fmla="val 60000"/>
            </a:avLst>
          </a:prstGeom>
          <a:solidFill>
            <a:srgbClr val="36D6B4">
              <a:alpha val="18000"/>
            </a:srgbClr>
          </a:solidFill>
          <a:ln w="2540">
            <a:solidFill>
              <a:srgbClr val="36D6B4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75320" y="19751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может делать пользователь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75320" y="255117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03920" y="2496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Искать</a:t>
            </a:r>
            <a:endParaRPr lang="en-US" sz="1420" dirty="0"/>
          </a:p>
        </p:txBody>
      </p:sp>
      <p:sp>
        <p:nvSpPr>
          <p:cNvPr id="60" name="Text 58"/>
          <p:cNvSpPr/>
          <p:nvPr/>
        </p:nvSpPr>
        <p:spPr>
          <a:xfrm>
            <a:off x="8503920" y="2788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словам в заголовке и кратком описании.</a:t>
            </a:r>
            <a:endParaRPr lang="en-US" sz="1110" dirty="0"/>
          </a:p>
        </p:txBody>
      </p:sp>
      <p:sp>
        <p:nvSpPr>
          <p:cNvPr id="61" name="Shape 59"/>
          <p:cNvSpPr/>
          <p:nvPr/>
        </p:nvSpPr>
        <p:spPr>
          <a:xfrm>
            <a:off x="8275320" y="3483864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Фильтровать</a:t>
            </a:r>
            <a:endParaRPr lang="en-US" sz="1420" dirty="0"/>
          </a:p>
        </p:txBody>
      </p:sp>
      <p:sp>
        <p:nvSpPr>
          <p:cNvPr id="63" name="Text 61"/>
          <p:cNvSpPr/>
          <p:nvPr/>
        </p:nvSpPr>
        <p:spPr>
          <a:xfrm>
            <a:off x="8503920" y="37216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тематической категории и источнику.</a:t>
            </a:r>
            <a:endParaRPr lang="en-US" sz="1110" dirty="0"/>
          </a:p>
        </p:txBody>
      </p:sp>
      <p:sp>
        <p:nvSpPr>
          <p:cNvPr id="64" name="Shape 62"/>
          <p:cNvSpPr/>
          <p:nvPr/>
        </p:nvSpPr>
        <p:spPr>
          <a:xfrm>
            <a:off x="8275320" y="4416552"/>
            <a:ext cx="109728" cy="109728"/>
          </a:xfrm>
          <a:prstGeom prst="ellipse">
            <a:avLst/>
          </a:prstGeom>
          <a:solidFill>
            <a:srgbClr val="EC4DD7"/>
          </a:solidFill>
          <a:ln w="12700">
            <a:solidFill>
              <a:srgbClr val="EC4DD7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03920" y="43616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Сравнивать</a:t>
            </a:r>
            <a:endParaRPr lang="en-US" sz="1420" dirty="0"/>
          </a:p>
        </p:txBody>
      </p:sp>
      <p:sp>
        <p:nvSpPr>
          <p:cNvPr id="66" name="Text 64"/>
          <p:cNvSpPr/>
          <p:nvPr/>
        </p:nvSpPr>
        <p:spPr>
          <a:xfrm>
            <a:off x="8503920" y="465429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распределение публикаций в графиках.</a:t>
            </a:r>
            <a:endParaRPr lang="en-US" sz="1110" dirty="0"/>
          </a:p>
        </p:txBody>
      </p:sp>
      <p:sp>
        <p:nvSpPr>
          <p:cNvPr id="67" name="Text 65">
            <a:hlinkClick r:id="rId3"/>
          </p:cNvPr>
          <p:cNvSpPr/>
          <p:nvPr/>
        </p:nvSpPr>
        <p:spPr>
          <a:xfrm>
            <a:off x="8275320" y="553212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b="1" u="sng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ЖИВОЙ ДАШБОРД  ↗</a:t>
            </a:r>
            <a:endParaRPr lang="en-US" sz="1020" dirty="0"/>
          </a:p>
        </p:txBody>
      </p:sp>
      <p:sp>
        <p:nvSpPr>
          <p:cNvPr id="68" name="Text 66"/>
          <p:cNvSpPr/>
          <p:nvPr/>
        </p:nvSpPr>
        <p:spPr>
          <a:xfrm>
            <a:off x="8275320" y="582472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FFBE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Ссылка Gradio временная: работает, пока активна сессия приложения.</a:t>
            </a:r>
            <a:endParaRPr lang="en-US" sz="93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6"/>
          </a:solidFill>
          <a:ln w="1270">
            <a:solidFill>
              <a:srgbClr val="050A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704088" cy="0"/>
          </a:xfrm>
          <a:prstGeom prst="line">
            <a:avLst/>
          </a:prstGeom>
          <a:noFill/>
          <a:ln w="16510">
            <a:solidFill>
              <a:srgbClr val="22D3EE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1064240" y="6455664"/>
            <a:ext cx="685800" cy="0"/>
          </a:xfrm>
          <a:prstGeom prst="line">
            <a:avLst/>
          </a:prstGeom>
          <a:noFill/>
          <a:ln w="1651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7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21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КАЧЕСТВО И ЭТИКА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0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результаты могут — и чего не могут — показать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978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 хорошего исследовательского проекта есть не только функции, но и честные границы применимости.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1627632"/>
            <a:ext cx="10945368" cy="0"/>
          </a:xfrm>
          <a:prstGeom prst="line">
            <a:avLst/>
          </a:prstGeom>
          <a:noFill/>
          <a:ln w="12700">
            <a:solidFill>
              <a:srgbClr val="263B5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21792" y="1874520"/>
            <a:ext cx="3547872" cy="1389888"/>
          </a:xfrm>
          <a:prstGeom prst="roundRect">
            <a:avLst>
              <a:gd name="adj" fmla="val 7895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874520"/>
            <a:ext cx="50292" cy="1389888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03911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 слова ошибаются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386584"/>
            <a:ext cx="31363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Одно слово может использоваться в другом контексте. Поэтому автоматическая категория — это подсказка для анализа, а не окончательный вердикт.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3547872" cy="1389888"/>
          </a:xfrm>
          <a:prstGeom prst="roundRect">
            <a:avLst>
              <a:gd name="adj" fmla="val 7895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3984" y="1874520"/>
            <a:ext cx="50292" cy="1389888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03911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 не охватывает всё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45152" y="2386584"/>
            <a:ext cx="31363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 зависит от запроса, доступности RSS и того, какие публикации попали в выдачу. Некоторые материалы могут не попасть в выборку.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1792" y="3502152"/>
            <a:ext cx="3547872" cy="1389888"/>
          </a:xfrm>
          <a:prstGeom prst="roundRect">
            <a:avLst>
              <a:gd name="adj" fmla="val 7895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502152"/>
            <a:ext cx="50292" cy="1389888"/>
          </a:xfrm>
          <a:prstGeom prst="rect">
            <a:avLst/>
          </a:prstGeom>
          <a:solidFill>
            <a:srgbClr val="EC4DD7"/>
          </a:solidFill>
          <a:ln w="1270">
            <a:solidFill>
              <a:srgbClr val="EC4DD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6674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Новости ≠ реальная статистика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014216"/>
            <a:ext cx="31363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Частота публикаций зависит от внимания СМИ. По этой выборке нельзя судить, сколько инцидентов действительно произошло в стране.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443984" y="3502152"/>
            <a:ext cx="3547872" cy="1389888"/>
          </a:xfrm>
          <a:prstGeom prst="roundRect">
            <a:avLst>
              <a:gd name="adj" fmla="val 7895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43984" y="3502152"/>
            <a:ext cx="50292" cy="1389888"/>
          </a:xfrm>
          <a:prstGeom prst="rect">
            <a:avLst/>
          </a:prstGeom>
          <a:solidFill>
            <a:srgbClr val="36D6B4"/>
          </a:solidFill>
          <a:ln w="1270">
            <a:solidFill>
              <a:srgbClr val="36D6B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66674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Уважение к приватности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45152" y="4014216"/>
            <a:ext cx="31363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следует загружать личные переписки, телефоны, адреса или неразрешённые полные тексты. Ссылки на первоисточники предпочтительнее копирования материалов.</a:t>
            </a:r>
            <a:endParaRPr lang="en-US" sz="1080" dirty="0"/>
          </a:p>
        </p:txBody>
      </p:sp>
      <p:pic>
        <p:nvPicPr>
          <p:cNvPr id="26" name="Image 0" descr="/mnt/data/astana_cybersecurity.jpg"/>
          <p:cNvPicPr>
            <a:picLocks noChangeAspect="1"/>
          </p:cNvPicPr>
          <p:nvPr/>
        </p:nvPicPr>
        <p:blipFill>
          <a:blip r:embed="rId3"/>
          <a:srcRect l="20458" r="20458"/>
          <a:stretch/>
        </p:blipFill>
        <p:spPr>
          <a:xfrm>
            <a:off x="8458200" y="1874520"/>
            <a:ext cx="3090672" cy="301752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458200" y="1874520"/>
            <a:ext cx="3090672" cy="3017520"/>
          </a:xfrm>
          <a:prstGeom prst="roundRect">
            <a:avLst>
              <a:gd name="adj" fmla="val 3636"/>
            </a:avLst>
          </a:prstGeom>
          <a:solidFill>
            <a:srgbClr val="050A16">
              <a:alpha val="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58200" y="5074920"/>
            <a:ext cx="3090672" cy="777240"/>
          </a:xfrm>
          <a:prstGeom prst="roundRect">
            <a:avLst>
              <a:gd name="adj" fmla="val 14118"/>
            </a:avLst>
          </a:prstGeom>
          <a:solidFill>
            <a:srgbClr val="191A31"/>
          </a:solidFill>
          <a:ln w="10160">
            <a:solidFill>
              <a:srgbClr val="7148A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50224" y="521208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принцип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641080" y="545896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Анализировать публикации, не обвинять людей.</a:t>
            </a:r>
            <a:endParaRPr lang="en-US" sz="12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6"/>
          </a:solidFill>
          <a:ln w="1270">
            <a:solidFill>
              <a:srgbClr val="050A1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704088" cy="0"/>
          </a:xfrm>
          <a:prstGeom prst="line">
            <a:avLst/>
          </a:prstGeom>
          <a:noFill/>
          <a:ln w="16510">
            <a:solidFill>
              <a:srgbClr val="22D3EE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064240" y="6455664"/>
            <a:ext cx="685800" cy="0"/>
          </a:xfrm>
          <a:prstGeom prst="line">
            <a:avLst/>
          </a:prstGeom>
          <a:noFill/>
          <a:ln w="1651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mnt/data/wide_cyberpunk_digital_themed_banner_image_with_a.png"/>
          <p:cNvPicPr>
            <a:picLocks noChangeAspect="1"/>
          </p:cNvPicPr>
          <p:nvPr/>
        </p:nvPicPr>
        <p:blipFill>
          <a:blip r:embed="rId3"/>
          <a:srcRect l="16683" r="16683"/>
          <a:stretch/>
        </p:blipFill>
        <p:spPr>
          <a:xfrm>
            <a:off x="502920" y="502920"/>
            <a:ext cx="5513832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502920"/>
            <a:ext cx="5513832" cy="2788920"/>
          </a:xfrm>
          <a:prstGeom prst="roundRect">
            <a:avLst>
              <a:gd name="adj" fmla="val 3934"/>
            </a:avLst>
          </a:prstGeom>
          <a:solidFill>
            <a:srgbClr val="050A16">
              <a:alpha val="0"/>
            </a:srgbClr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400800" y="6035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2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00800" y="932688"/>
            <a:ext cx="5166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0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 списка новостей — к удобному инструменту анализа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400800" y="1883664"/>
            <a:ext cx="5047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 уже объединяет сбор публикаций, очистку, предварительную классификацию и визуальный просмотр. Следующий шаг — повысить качество разметки и сделать доступ к дашборду постоянным.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" y="3593592"/>
            <a:ext cx="10945368" cy="0"/>
          </a:xfrm>
          <a:prstGeom prst="line">
            <a:avLst/>
          </a:prstGeom>
          <a:noFill/>
          <a:ln w="12700">
            <a:solidFill>
              <a:srgbClr val="263B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85800" y="38130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7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УЛУЧШИТЬ ДАЛЬШЕ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" y="4224528"/>
            <a:ext cx="3493008" cy="1225296"/>
          </a:xfrm>
          <a:prstGeom prst="roundRect">
            <a:avLst>
              <a:gd name="adj" fmla="val 8955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21792" y="4224528"/>
            <a:ext cx="50292" cy="1225296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86384" y="440740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335024" y="437997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Проверить классификацию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1335024" y="4754880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Вручную разметить часть публикаций и измерить ошибки.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4389120" y="4224528"/>
            <a:ext cx="3493008" cy="1225296"/>
          </a:xfrm>
          <a:prstGeom prst="roundRect">
            <a:avLst>
              <a:gd name="adj" fmla="val 8955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389120" y="4224528"/>
            <a:ext cx="50292" cy="1225296"/>
          </a:xfrm>
          <a:prstGeom prst="rect">
            <a:avLst/>
          </a:prstGeom>
          <a:solidFill>
            <a:srgbClr val="A78BFA"/>
          </a:solidFill>
          <a:ln w="127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4553712" y="440740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102352" y="437997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Усилить русский и казахский словари</a:t>
            </a:r>
            <a:endParaRPr lang="en-US" sz="1280" dirty="0"/>
          </a:p>
        </p:txBody>
      </p:sp>
      <p:sp>
        <p:nvSpPr>
          <p:cNvPr id="22" name="Text 19"/>
          <p:cNvSpPr/>
          <p:nvPr/>
        </p:nvSpPr>
        <p:spPr>
          <a:xfrm>
            <a:off x="5102352" y="4754880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Добавить варианты формулировок и проверять неоднозначные случаи.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8156448" y="4224528"/>
            <a:ext cx="3493008" cy="1225296"/>
          </a:xfrm>
          <a:prstGeom prst="roundRect">
            <a:avLst>
              <a:gd name="adj" fmla="val 8955"/>
            </a:avLst>
          </a:prstGeom>
          <a:solidFill>
            <a:srgbClr val="0B1426"/>
          </a:solidFill>
          <a:ln w="10795">
            <a:solidFill>
              <a:srgbClr val="263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8156448" y="4224528"/>
            <a:ext cx="50292" cy="1225296"/>
          </a:xfrm>
          <a:prstGeom prst="rect">
            <a:avLst/>
          </a:prstGeom>
          <a:solidFill>
            <a:srgbClr val="22D3EE"/>
          </a:solidFill>
          <a:ln w="127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8321040" y="440740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869680" y="437997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Разместить дашборд постоянно</a:t>
            </a:r>
            <a:endParaRPr lang="en-US" sz="1280" dirty="0"/>
          </a:p>
        </p:txBody>
      </p:sp>
      <p:sp>
        <p:nvSpPr>
          <p:cNvPr id="27" name="Text 24"/>
          <p:cNvSpPr/>
          <p:nvPr/>
        </p:nvSpPr>
        <p:spPr>
          <a:xfrm>
            <a:off x="8869680" y="4754880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Перенести приложение с временной ссылки на постоянный хостинг.</a:t>
            </a:r>
            <a:endParaRPr lang="en-US" sz="1070" dirty="0"/>
          </a:p>
        </p:txBody>
      </p:sp>
      <p:sp>
        <p:nvSpPr>
          <p:cNvPr id="28" name="Shape 25"/>
          <p:cNvSpPr/>
          <p:nvPr/>
        </p:nvSpPr>
        <p:spPr>
          <a:xfrm>
            <a:off x="621792" y="5742432"/>
            <a:ext cx="10954512" cy="557784"/>
          </a:xfrm>
          <a:prstGeom prst="roundRect">
            <a:avLst>
              <a:gd name="adj" fmla="val 19672"/>
            </a:avLst>
          </a:prstGeom>
          <a:solidFill>
            <a:srgbClr val="0B1D31"/>
          </a:solidFill>
          <a:ln w="10160">
            <a:solidFill>
              <a:srgbClr val="1A738B"/>
            </a:solidFill>
            <a:prstDash val="solid"/>
          </a:ln>
        </p:spPr>
        <p:txBody>
          <a:bodyPr/>
          <a:lstStyle/>
          <a:p>
            <a:endParaRPr lang="ru-KZ" dirty="0"/>
          </a:p>
        </p:txBody>
      </p:sp>
      <p:sp>
        <p:nvSpPr>
          <p:cNvPr id="29" name="Text 26"/>
          <p:cNvSpPr/>
          <p:nvPr/>
        </p:nvSpPr>
        <p:spPr>
          <a:xfrm>
            <a:off x="841248" y="5897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0" spc="120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СПАСИБО ЗА ВНИМАНИЕ</a:t>
            </a:r>
            <a:r>
              <a:rPr lang="ru-RU" sz="1300" b="1" kern="0" spc="120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 </a:t>
            </a:r>
            <a:endParaRPr lang="en-US" sz="1300" dirty="0"/>
          </a:p>
        </p:txBody>
      </p:sp>
      <p:sp>
        <p:nvSpPr>
          <p:cNvPr id="30" name="Text 27">
            <a:hlinkClick r:id="rId4"/>
          </p:cNvPr>
          <p:cNvSpPr/>
          <p:nvPr/>
        </p:nvSpPr>
        <p:spPr>
          <a:xfrm>
            <a:off x="6903720" y="588873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40" b="1" u="sng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интерактивный дашборд  ↗</a:t>
            </a:r>
            <a:endParaRPr lang="en-US" sz="1240" dirty="0"/>
          </a:p>
        </p:txBody>
      </p:sp>
      <p:sp>
        <p:nvSpPr>
          <p:cNvPr id="31" name="Text 28"/>
          <p:cNvSpPr/>
          <p:nvPr/>
        </p:nvSpPr>
        <p:spPr>
          <a:xfrm>
            <a:off x="685800" y="64190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FB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Harassment KZ · </a:t>
            </a:r>
            <a:r>
              <a:rPr lang="ru-RU" sz="900" b="1" dirty="0" err="1">
                <a:solidFill>
                  <a:srgbClr val="B4BEDC"/>
                </a:solidFill>
              </a:rPr>
              <a:t>Алесханов</a:t>
            </a:r>
            <a:r>
              <a:rPr lang="ru-RU" sz="900" b="1" dirty="0">
                <a:solidFill>
                  <a:srgbClr val="B4BEDC"/>
                </a:solidFill>
              </a:rPr>
              <a:t> Хаджимурат, </a:t>
            </a:r>
            <a:r>
              <a:rPr lang="ru-RU" sz="900" b="1" dirty="0" err="1">
                <a:solidFill>
                  <a:srgbClr val="B4BEDC"/>
                </a:solidFill>
              </a:rPr>
              <a:t>Адиртхан</a:t>
            </a:r>
            <a:r>
              <a:rPr lang="ru-RU" sz="900" b="1" dirty="0">
                <a:solidFill>
                  <a:srgbClr val="B4BEDC"/>
                </a:solidFill>
              </a:rPr>
              <a:t> Бахтияр·  ВтИПОР252уп</a:t>
            </a:r>
            <a:endParaRPr lang="en-US" sz="9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96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1462</Words>
  <Application>Microsoft Office PowerPoint</Application>
  <PresentationFormat>Широкоэкранный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Digital Harassment KZ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Harassment KZ — аналитика цифровых угроз в Казахстане</dc:title>
  <dc:subject>Новостная аналитика цифровых угроз в Казахстане</dc:subject>
  <dc:creator>Digital Harassment KZ</dc:creator>
  <cp:lastModifiedBy>Мурат Муратов</cp:lastModifiedBy>
  <cp:revision>10</cp:revision>
  <dcterms:created xsi:type="dcterms:W3CDTF">2026-10-17T21:01:40Z</dcterms:created>
  <dcterms:modified xsi:type="dcterms:W3CDTF">2026-10-17T22:02:49Z</dcterms:modified>
</cp:coreProperties>
</file>